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561BE-C96C-42BB-B294-C831B867B59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88F92-5496-41A8-8D5D-E1EEB59AEA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986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649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4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1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8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11/relationships/webextension" Target="../webextensions/webextension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0"/>
            <a:ext cx="48006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4534" y="306188"/>
            <a:ext cx="6510933" cy="2406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Optimizing Grid Operations and Financial Planning with AI-Driven Load Forecasting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54534" y="3222724"/>
            <a:ext cx="6510933" cy="1457920"/>
          </a:xfrm>
          <a:prstGeom prst="roundRect">
            <a:avLst>
              <a:gd name="adj" fmla="val 627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5483" y="3222724"/>
            <a:ext cx="76200" cy="1457920"/>
          </a:xfrm>
          <a:prstGeom prst="roundRect">
            <a:avLst>
              <a:gd name="adj" fmla="val 187147"/>
            </a:avLst>
          </a:prstGeom>
          <a:solidFill>
            <a:srgbClr val="84C1FA"/>
          </a:solidFill>
          <a:ln/>
        </p:spPr>
      </p:sp>
      <p:sp>
        <p:nvSpPr>
          <p:cNvPr id="7" name="Text 4"/>
          <p:cNvSpPr/>
          <p:nvPr/>
        </p:nvSpPr>
        <p:spPr>
          <a:xfrm>
            <a:off x="789087" y="3400128"/>
            <a:ext cx="1980605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Challenge</a:t>
            </a:r>
            <a:endParaRPr lang="en-US" sz="1542" dirty="0"/>
          </a:p>
        </p:txBody>
      </p:sp>
      <p:sp>
        <p:nvSpPr>
          <p:cNvPr id="8" name="Text 5"/>
          <p:cNvSpPr/>
          <p:nvPr/>
        </p:nvSpPr>
        <p:spPr>
          <a:xfrm>
            <a:off x="789087" y="3742730"/>
            <a:ext cx="6098977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Energy shortages </a:t>
            </a:r>
            <a:r>
              <a:rPr lang="en-US" sz="1208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cause customer dissatisfaction and service disruptions, while </a:t>
            </a:r>
            <a:r>
              <a:rPr lang="en-US" sz="1208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oversupply</a:t>
            </a:r>
            <a:r>
              <a:rPr lang="en-US" sz="1208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results in financial losses.</a:t>
            </a:r>
            <a:endParaRPr lang="en-US" sz="1208" dirty="0"/>
          </a:p>
        </p:txBody>
      </p:sp>
      <p:sp>
        <p:nvSpPr>
          <p:cNvPr id="9" name="Shape 6"/>
          <p:cNvSpPr/>
          <p:nvPr/>
        </p:nvSpPr>
        <p:spPr>
          <a:xfrm>
            <a:off x="554534" y="4838998"/>
            <a:ext cx="6510933" cy="1457920"/>
          </a:xfrm>
          <a:prstGeom prst="roundRect">
            <a:avLst>
              <a:gd name="adj" fmla="val 627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5483" y="4838998"/>
            <a:ext cx="76200" cy="1457920"/>
          </a:xfrm>
          <a:prstGeom prst="roundRect">
            <a:avLst>
              <a:gd name="adj" fmla="val 187147"/>
            </a:avLst>
          </a:prstGeom>
          <a:solidFill>
            <a:srgbClr val="84C1FA"/>
          </a:solidFill>
          <a:ln/>
        </p:spPr>
      </p:sp>
      <p:sp>
        <p:nvSpPr>
          <p:cNvPr id="11" name="Text 8"/>
          <p:cNvSpPr/>
          <p:nvPr/>
        </p:nvSpPr>
        <p:spPr>
          <a:xfrm>
            <a:off x="789087" y="5016401"/>
            <a:ext cx="1980605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Objective</a:t>
            </a:r>
            <a:endParaRPr lang="en-US" sz="1542" dirty="0"/>
          </a:p>
        </p:txBody>
      </p:sp>
      <p:sp>
        <p:nvSpPr>
          <p:cNvPr id="12" name="Text 9"/>
          <p:cNvSpPr/>
          <p:nvPr/>
        </p:nvSpPr>
        <p:spPr>
          <a:xfrm>
            <a:off x="789087" y="5359003"/>
            <a:ext cx="6098977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 a high-accuracy AI forecasting model predicting electricity load 24-48 hours ahead to enhance grid stability and reduce operational costs.</a:t>
            </a:r>
            <a:endParaRPr lang="en-US" sz="120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D83B53CC-1581-C041-DCA5-8889A930D6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9979710"/>
                  </p:ext>
                </p:extLst>
              </p:nvPr>
            </p:nvGraphicFramePr>
            <p:xfrm>
              <a:off x="251927" y="223935"/>
              <a:ext cx="11831216" cy="643812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D83B53CC-1581-C041-DCA5-8889A930D6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1927" y="223935"/>
                <a:ext cx="11831216" cy="64381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961" y="367633"/>
            <a:ext cx="9821010" cy="81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Leveraging LSTM  to Decode Consumption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3961" y="1122923"/>
            <a:ext cx="1417638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Foundation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3961" y="1506091"/>
            <a:ext cx="735772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model utilizes historical </a:t>
            </a:r>
            <a:r>
              <a:rPr lang="en-US" sz="160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15-minute interval </a:t>
            </a: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meter data, capturing granular consumption patterns across the distribution network. This is enriched with critical temporal features including time-of-day, day-of-week, and seasonal indicators.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2402" y="2823534"/>
            <a:ext cx="1417638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LSTM?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30696" y="3995786"/>
            <a:ext cx="5061943" cy="30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7"/>
              </a:lnSpc>
            </a:pPr>
            <a:endParaRPr lang="en-US" sz="708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932" y="1122923"/>
            <a:ext cx="3007742" cy="30077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5153" y="8648502"/>
            <a:ext cx="118129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917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Training</a:t>
            </a:r>
            <a:endParaRPr lang="en-US" sz="917" dirty="0"/>
          </a:p>
        </p:txBody>
      </p:sp>
      <p:sp>
        <p:nvSpPr>
          <p:cNvPr id="16" name="Text 10"/>
          <p:cNvSpPr/>
          <p:nvPr/>
        </p:nvSpPr>
        <p:spPr>
          <a:xfrm>
            <a:off x="425152" y="8852793"/>
            <a:ext cx="5576392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 LSTM on 96-interval sequences</a:t>
            </a:r>
            <a:endParaRPr lang="en-US" sz="708" dirty="0"/>
          </a:p>
        </p:txBody>
      </p:sp>
      <p:sp>
        <p:nvSpPr>
          <p:cNvPr id="18" name="Text 11"/>
          <p:cNvSpPr/>
          <p:nvPr/>
        </p:nvSpPr>
        <p:spPr>
          <a:xfrm>
            <a:off x="6190457" y="8648502"/>
            <a:ext cx="118129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917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Deployment</a:t>
            </a:r>
            <a:endParaRPr lang="en-US" sz="917" dirty="0"/>
          </a:p>
        </p:txBody>
      </p:sp>
      <p:sp>
        <p:nvSpPr>
          <p:cNvPr id="19" name="Text 12"/>
          <p:cNvSpPr/>
          <p:nvPr/>
        </p:nvSpPr>
        <p:spPr>
          <a:xfrm>
            <a:off x="6190457" y="8852793"/>
            <a:ext cx="5576392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Continuous monitoring and refinement</a:t>
            </a:r>
            <a:endParaRPr lang="en-US" sz="708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E86BD2-A4D6-D393-986C-30B9E34F912D}"/>
              </a:ext>
            </a:extLst>
          </p:cNvPr>
          <p:cNvSpPr/>
          <p:nvPr/>
        </p:nvSpPr>
        <p:spPr>
          <a:xfrm>
            <a:off x="10686585" y="6477000"/>
            <a:ext cx="1421781" cy="37802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B651E3D8-7A41-D762-C102-6ACD493C3AF2}"/>
              </a:ext>
            </a:extLst>
          </p:cNvPr>
          <p:cNvSpPr/>
          <p:nvPr/>
        </p:nvSpPr>
        <p:spPr>
          <a:xfrm>
            <a:off x="572402" y="3210430"/>
            <a:ext cx="2493696" cy="2219236"/>
          </a:xfrm>
          <a:prstGeom prst="roundRect">
            <a:avLst>
              <a:gd name="adj" fmla="val 6220"/>
            </a:avLst>
          </a:prstGeom>
          <a:solidFill>
            <a:srgbClr val="CEE6FD"/>
          </a:solidFill>
          <a:ln/>
        </p:spPr>
        <p:txBody>
          <a:bodyPr/>
          <a:lstStyle/>
          <a:p>
            <a:r>
              <a:rPr lang="en-IN" b="1" dirty="0"/>
              <a:t>Captures Temporal Dependencies</a:t>
            </a:r>
          </a:p>
          <a:p>
            <a:endParaRPr lang="en-IN" b="1" dirty="0"/>
          </a:p>
          <a:p>
            <a:r>
              <a:rPr lang="en-US" sz="1400" dirty="0"/>
              <a:t>LSTM networks excel at learning patterns across time sequences, making them ideal for energy data</a:t>
            </a:r>
            <a:endParaRPr lang="en-IN" sz="14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697E70B5-CB8D-2091-0EAD-9C6E5D5EA5EA}"/>
              </a:ext>
            </a:extLst>
          </p:cNvPr>
          <p:cNvSpPr/>
          <p:nvPr/>
        </p:nvSpPr>
        <p:spPr>
          <a:xfrm>
            <a:off x="3307804" y="3192323"/>
            <a:ext cx="2493696" cy="2237343"/>
          </a:xfrm>
          <a:prstGeom prst="roundRect">
            <a:avLst>
              <a:gd name="adj" fmla="val 6220"/>
            </a:avLst>
          </a:prstGeom>
          <a:solidFill>
            <a:srgbClr val="CEE6FD"/>
          </a:solidFill>
          <a:ln/>
        </p:spPr>
        <p:txBody>
          <a:bodyPr/>
          <a:lstStyle/>
          <a:p>
            <a:r>
              <a:rPr lang="en-US" b="1" dirty="0"/>
              <a:t>Handles Complex Seasonality</a:t>
            </a:r>
          </a:p>
          <a:p>
            <a:endParaRPr lang="en-US" b="1" dirty="0"/>
          </a:p>
          <a:p>
            <a:r>
              <a:rPr lang="en-US" sz="1400" dirty="0"/>
              <a:t>Energy load exhibits multiple seasonal patterns (daily, weekly, yearly). </a:t>
            </a:r>
            <a:endParaRPr lang="en-IN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993D275D-939C-E782-DB6C-DD7827877B7C}"/>
              </a:ext>
            </a:extLst>
          </p:cNvPr>
          <p:cNvSpPr/>
          <p:nvPr/>
        </p:nvSpPr>
        <p:spPr>
          <a:xfrm>
            <a:off x="6001544" y="3163610"/>
            <a:ext cx="2493696" cy="2219236"/>
          </a:xfrm>
          <a:prstGeom prst="roundRect">
            <a:avLst>
              <a:gd name="adj" fmla="val 6220"/>
            </a:avLst>
          </a:prstGeom>
          <a:solidFill>
            <a:srgbClr val="CEE6FD"/>
          </a:solidFill>
          <a:ln/>
        </p:spPr>
        <p:txBody>
          <a:bodyPr/>
          <a:lstStyle/>
          <a:p>
            <a:r>
              <a:rPr lang="en-US" b="1" dirty="0"/>
              <a:t>Robust to Long-Term Patterns</a:t>
            </a:r>
          </a:p>
          <a:p>
            <a:endParaRPr lang="en-US" b="1" dirty="0"/>
          </a:p>
          <a:p>
            <a:r>
              <a:rPr lang="en-US" sz="1400" dirty="0"/>
              <a:t>Unlike traditional models, LSTMs maintain memory of relevant historical patterns over long periods.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4F0504-1B6F-6622-647A-769689FA4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02" y="5556355"/>
            <a:ext cx="4736611" cy="10565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05251" y="471190"/>
            <a:ext cx="6147891" cy="96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3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Achieving High-Fidelity Forecasts with Actionable Insights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110857" y="1741389"/>
            <a:ext cx="3174901" cy="508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93%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735936" y="2441774"/>
            <a:ext cx="1924744" cy="240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Forecast Accuracy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05252" y="2774752"/>
            <a:ext cx="2388446" cy="73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208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performance on test data</a:t>
            </a:r>
            <a:endParaRPr lang="en-US" sz="1208" dirty="0"/>
          </a:p>
        </p:txBody>
      </p:sp>
      <p:sp>
        <p:nvSpPr>
          <p:cNvPr id="7" name="Text 4"/>
          <p:cNvSpPr/>
          <p:nvPr/>
        </p:nvSpPr>
        <p:spPr>
          <a:xfrm>
            <a:off x="8478143" y="1741389"/>
            <a:ext cx="3175000" cy="508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591252" y="2441774"/>
            <a:ext cx="2948682" cy="240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Mean Absolute Percentage Error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78143" y="2774752"/>
            <a:ext cx="3175000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208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Industry-leading precision in load prediction</a:t>
            </a:r>
            <a:endParaRPr lang="en-US" sz="1208" dirty="0"/>
          </a:p>
        </p:txBody>
      </p:sp>
      <p:sp>
        <p:nvSpPr>
          <p:cNvPr id="11" name="Shape 8"/>
          <p:cNvSpPr/>
          <p:nvPr/>
        </p:nvSpPr>
        <p:spPr>
          <a:xfrm>
            <a:off x="5308053" y="3836889"/>
            <a:ext cx="6542286" cy="2423046"/>
          </a:xfrm>
          <a:prstGeom prst="roundRect">
            <a:avLst>
              <a:gd name="adj" fmla="val 7752"/>
            </a:avLst>
          </a:prstGeom>
          <a:solidFill>
            <a:srgbClr val="B5DA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507" y="4205536"/>
            <a:ext cx="240507" cy="1923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35935" y="4181426"/>
            <a:ext cx="1924744" cy="240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Critical Discovery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57360" y="4518496"/>
            <a:ext cx="5840115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LSTM model is predicting nearly constant values for future timestamps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Indicates the model learned the </a:t>
            </a:r>
            <a:r>
              <a:rPr lang="en-US" b="1" dirty="0">
                <a:solidFill>
                  <a:srgbClr val="FF0000"/>
                </a:solidFill>
              </a:rPr>
              <a:t>average consumption pattern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but failed to capture temporal dynamics</a:t>
            </a:r>
          </a:p>
          <a:p>
            <a:pPr>
              <a:lnSpc>
                <a:spcPts val="1917"/>
              </a:lnSpc>
            </a:pPr>
            <a:endParaRPr lang="en-US" sz="1208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B31B06-130C-C2EC-A475-A31BAD115A1C}"/>
              </a:ext>
            </a:extLst>
          </p:cNvPr>
          <p:cNvSpPr/>
          <p:nvPr/>
        </p:nvSpPr>
        <p:spPr>
          <a:xfrm>
            <a:off x="10686585" y="6477000"/>
            <a:ext cx="1421781" cy="37802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BF1BA70-E59B-3BEA-C607-F8D8836CC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47" y="471190"/>
            <a:ext cx="4532110" cy="25825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60C714-797A-2736-F905-BA326BB5F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147" y="3804221"/>
            <a:ext cx="4532110" cy="2455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96" y="259854"/>
            <a:ext cx="5968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Driving Tangible Value Across Operations and Finance</a:t>
            </a:r>
            <a:endParaRPr lang="en-US" sz="1833" dirty="0"/>
          </a:p>
        </p:txBody>
      </p:sp>
      <p:sp>
        <p:nvSpPr>
          <p:cNvPr id="3" name="Shape 1"/>
          <p:cNvSpPr/>
          <p:nvPr/>
        </p:nvSpPr>
        <p:spPr>
          <a:xfrm>
            <a:off x="330696" y="744140"/>
            <a:ext cx="3780532" cy="1771275"/>
          </a:xfrm>
          <a:prstGeom prst="roundRect">
            <a:avLst>
              <a:gd name="adj" fmla="val 6220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425153" y="930696"/>
            <a:ext cx="118129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Cost Reduction Estimation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5152" y="1264890"/>
            <a:ext cx="3591619" cy="30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Optimized power purchasing can reduce reliance on expensive last-minute spot markets by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53" y="1739733"/>
            <a:ext cx="3260626" cy="407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8"/>
              </a:lnSpc>
            </a:pPr>
            <a:r>
              <a:rPr lang="en-US" sz="2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5 – 7 %</a:t>
            </a:r>
            <a:endParaRPr lang="en-US" sz="2542" dirty="0"/>
          </a:p>
        </p:txBody>
      </p:sp>
      <p:sp>
        <p:nvSpPr>
          <p:cNvPr id="8" name="Shape 6"/>
          <p:cNvSpPr/>
          <p:nvPr/>
        </p:nvSpPr>
        <p:spPr>
          <a:xfrm>
            <a:off x="4205684" y="744141"/>
            <a:ext cx="3780532" cy="1771274"/>
          </a:xfrm>
          <a:prstGeom prst="roundRect">
            <a:avLst>
              <a:gd name="adj" fmla="val 6220"/>
            </a:avLst>
          </a:prstGeom>
          <a:solidFill>
            <a:srgbClr val="CEE6FD"/>
          </a:solidFill>
          <a:ln/>
        </p:spPr>
      </p:sp>
      <p:sp>
        <p:nvSpPr>
          <p:cNvPr id="9" name="Text 7"/>
          <p:cNvSpPr/>
          <p:nvPr/>
        </p:nvSpPr>
        <p:spPr>
          <a:xfrm>
            <a:off x="4377356" y="944072"/>
            <a:ext cx="123021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Operational Efficiency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77356" y="1342043"/>
            <a:ext cx="2865769" cy="30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 can Highly enhance reliability and minimizing regulatory penalty charges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80672" y="744141"/>
            <a:ext cx="3780532" cy="1771274"/>
          </a:xfrm>
          <a:prstGeom prst="roundRect">
            <a:avLst>
              <a:gd name="adj" fmla="val 6220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8268435" y="948199"/>
            <a:ext cx="118129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Risk Mitigation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68435" y="1326440"/>
            <a:ext cx="3208118" cy="30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Improved capacity to handle predicted demand surges, significantly reducing the risk of localized outages and service interruptions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0596" y="2784958"/>
            <a:ext cx="11530608" cy="1815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530354" y="3326788"/>
            <a:ext cx="1417638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2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Strategic Impact</a:t>
            </a:r>
            <a:endParaRPr lang="en-US" sz="2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12426" b="12941"/>
          <a:stretch>
            <a:fillRect/>
          </a:stretch>
        </p:blipFill>
        <p:spPr>
          <a:xfrm>
            <a:off x="162803" y="3036214"/>
            <a:ext cx="4452219" cy="332288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55666" y="3950042"/>
            <a:ext cx="5650012" cy="2715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Establishes foundation for a more </a:t>
            </a:r>
            <a:r>
              <a:rPr lang="en-US" sz="160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resilient, data-driven grid infrastructure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55666" y="5732234"/>
            <a:ext cx="5650012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Enables advanced capabilities like dynamic pricing models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255666" y="4478473"/>
            <a:ext cx="6687518" cy="57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1167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Positions the company for demand response programs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and customer engagement initiatives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55666" y="5242119"/>
            <a:ext cx="5650012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Creates competitive advantage in the evolving energy landscape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391A98-AD27-33F9-64CE-A30B064AA085}"/>
              </a:ext>
            </a:extLst>
          </p:cNvPr>
          <p:cNvSpPr/>
          <p:nvPr/>
        </p:nvSpPr>
        <p:spPr>
          <a:xfrm>
            <a:off x="10686585" y="6477000"/>
            <a:ext cx="1421781" cy="37802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82B09576-71C6-48D4-913F-5918A0F9F629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e3181178-f683-4a85-97d7-88abeb816d6b/3218e94aabe7143cd202?bookmarkGuid=803ca49c-778e-4369-a190-aec3eff26064&amp;bookmarkUsage=1&amp;ctid=30ec14df-cc5f-4651-a117-7622565c4a6c&amp;fromEntryPoint=export&quot;"/>
    <we:property name="reportState" value="&quot;CONNECTED&quot;"/>
    <we:property name="artifactViewState" value="&quot;live&quot;"/>
    <we:property name="reportEmbeddedTime" value="&quot;2025-11-10T06:13:23.462Z&quot;"/>
    <we:property name="creatorSessionId" value="&quot;36daaf54-55ed-4446-8b39-6aec3b3446a8&quot;"/>
    <we:property name="creatorUserId" value="&quot;10032004F8E8B6F0&quot;"/>
    <we:property name="creatorTenantId" value="&quot;30ec14df-cc5f-4651-a117-7622565c4a6c&quot;"/>
    <we:property name="pageDisplayName" value="&quot;Page 1&quot;"/>
    <we:property name="pageName" value="&quot;3218e94aabe7143cd202&quot;"/>
    <we:property name="reportName" value="&quot;Esyasoft energy consumption&quot;"/>
    <we:property name="isVisualContainerHeaderHidden" value="false"/>
    <we:property name="isFiltersActionButtonVisible" value="true"/>
    <we:property name="initialStateBookmark" value="&quot;H4sIAAAAAAAAA+1Z227bOBD9lYAvbQFjYV0sWX1LnBQF2rTZdpGXRWAMyZHDlhYFisrGG+TfdyjarbcRYvcKJ+6jh6O5nBmeGck3TKqm1rB4A3Nkz9mRMR/nYD8eRGzAqqXs7dtXp4fvXk3fHJ6ekNjUTpmqYc9vmAM7Q3eumha0t0DCvy8GDLQ+g5n/VYJucMBqtI2pQKt/MSjTkbMt3g4YXtfaWPAm3ztw6M1ekTr9Jt/RHwl5BOHUFb5H4YI0iaMxFikAxzxKEyHjYUxqTVDoIutV8aY79xNTOVAVufEymSdQoJDFKOZpkpS5EEMvb1Q108uAPz/716L2qDi8dtxcezz4B3LsLd3e+oRGcsyRl5BEWTQeyagspH+6VNotHfLFyXVtCStCMFibUOYzY5UgTx0mFpsAwQ17qdCCFZeL13iFXSAn/ed3j86sIejd4hysChCb1gq8qxjk77DsjiqnHFljDbWCm86R4p5KcHDwNHrGfI7LbvlklmJeuSIxqaJTpOFV16Jjx3Rw8Fngj5c5sT9bcoW2k12afyYWSZdwG94OfoO0AumU2vbyXogO5RVUgqR7ic8xLL4NncPZzOIsRHEnrYnR7bxH/pXpruWGxDyzxbRp61orCscfv2irJb0NH1AKXGm9TQIXJLmXTjWx8eSS/P6fUFfcT54/rLH7kgkWHYXuRWuv8eOeZPyJ7PYk30BeF90OMSoKlGmRj2IJwzTJ84zjxh3isVKDACu/ZAVjJdqjcP+PlV1thvHgiyx2K3Vf3QETPMqKjErLk6wsBacVFb5rQfzxeWgjAmbfUK5GK0FEtV4wNidYugb2Dru06uBMYTg3sjvGLusb9lpRdMH2OejWm31yBI0STyiiFY69k6FTbzoXPxWWcE+jAkbRMJeYRHmEIMtxHD2YeypB6cVUEHDtvHulm2oDe3Zht8UgdNwozXmWijgrZCLGvMwRxYMp91cvnY+pzhuTDwWOExlLUchilIosS1Iu5Ob7/Guped78ZuU+RAIhiyzhYy4Lmq20MxUYlTLZsQLeM1t37zXvp80IDrb3dW9H+WP7ObHNG+sv2ExKWkloRpUCuRxnJV2LMn+8o2q7b4S7tSfXqv+Dx47egC0m6E60ftf9fUPOtK6pQeAZVNgz7KhVoJIoNww8/68F63xQMRXXmwbkSn8Z3H+PYSIicBkAAA==&quot;"/>
    <we:property name="bookmark" value="&quot;H4sIAAAAAAAAA+1Z3W/bNhD/VwK+dAOMQV+WrL41Toc9dEO2DnkZAuNInhy2tChQVBYt8P/eo2inXiMkbrcWTtxH353v48fj7472LZOqbTT0v8EK2Ut2asz7Fdj3JzGbsDrIMIIoFnFUZamcYVbNEp6Q1jROmbplL2+ZA7tEd6HaDrR3RMK/LicMtD6Hpf9UgW5xwhq0ralBq38wGJPK2Q7XE4Y3jTYWvMu3Dhx6t9dkTp8phfinlCKCcOoa36JwQZom8QzLDIBjEWepkEnkE2uDwZDZqIl3PYSfm9qBqimMl8kihRKFLKcJz9K0KoSIvLxV9VJvEv743T/7xoPj8MZxc+Px4O8osPe0XvuCpnLGkVeQxnk8m8q4KqX/dqW02wTk/eubxhJWhGDwNqfKl8YqQZEGTCy2AYJb9otCC1Zc9W/wGodEXo/r76vOrSHoXX8BVgWITWcF3jcM8j+wGlS1U468sZY6wi1WSHkvJDg4+SH+kfkaN01z55Zy3oYiMZmiU2ThTXeyY2ekOPko8OpNTez3jkKhHWRX5u+5RbIl3KL15DtIW5B+pba9ehCiV/IaakHSo8TnDPovQ+fVcmlxGbK4V9bc6G41Iv/McndqQ2KeZb9ou6bRitLx6p+7ekNv0RMqgSut9yngkiQP0qkmNp5fUdx/E+qW+ynyux123zBBP1DoUbT2Dj8eScV3ZHck9Qbyuhx2iGlZoszKYppIiLK0KHKOj+4Qz5UaBFj5KSsYK9Gehvt/pux2M0wmn1RxWKX7050wweO8zOloeZpXleC0osJ/WhD//zq0EQGzLziuVitBRLV7YGxFsAwN7AMOZTUhmMKgN3JQ41D1LXujKLvg+wJ0592+OIVWiReU0RbH0ckwmLdDiK8KS7incQnTOCokpnERI0h6IsVP5p5KULpfCAKuWw1PuoU2cGQXdl8MQsdNs4LnmUjyUqZixqsCUTyZ4/7spfM5nfOjxYcDTlKZSFHKcpqJPE8zLuTj9/nbUvOq/c7KY4gEQhZ5ymdcljRbaWcqMa5kemAH+MBsPbxn3lebERzs6HPvQPlj/zmxz4v1G2wmFa0kNKMqgVzO8oquRVU831G132+Eh7UnN2r8B48DvQF7TNCDaP2h+8eGnOlc24DAc6hxZNhRq0AtUT4y8IY/NO7G3Xr9AX7W3/ZIGQAA&quot;"/>
    <we:property name="datasetId" value="&quot;86134e1f-42a8-439f-8933-1ac9fcef33f4&quot;"/>
    <we:property name="embedUrl" value="&quot;/reportEmbed?reportId=e3181178-f683-4a85-97d7-88abeb816d6b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C1DCF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1704</TotalTime>
  <Words>399</Words>
  <Application>Microsoft Office PowerPoint</Application>
  <PresentationFormat>Widescreen</PresentationFormat>
  <Paragraphs>59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Calibri Light</vt:lpstr>
      <vt:lpstr>Instrument Sans Medium</vt:lpstr>
      <vt:lpstr>Instrument Sans Semi Bold</vt:lpstr>
      <vt:lpstr>Segoe UI</vt:lpstr>
      <vt:lpstr>Segoe UI Light</vt:lpstr>
      <vt:lpstr>Segoe UI Semibold</vt:lpstr>
      <vt:lpstr>Times New Roman</vt:lpstr>
      <vt:lpstr>Office Theme</vt:lpstr>
      <vt:lpstr>PowerPoint Presentation</vt:lpstr>
      <vt:lpstr>Relaunch the add-in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Sierra Academy</cp:lastModifiedBy>
  <cp:revision>6</cp:revision>
  <dcterms:created xsi:type="dcterms:W3CDTF">2018-06-07T21:39:02Z</dcterms:created>
  <dcterms:modified xsi:type="dcterms:W3CDTF">2025-11-10T09:32:02Z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